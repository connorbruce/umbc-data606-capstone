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  <p:sldId id="267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DB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B18F72-5BB2-49ED-BA46-71F8D6D0AF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A05952-0822-4927-AD7F-F16435C0E7D7}">
      <dgm:prSet phldrT="[Text]" phldr="0" custT="1"/>
      <dgm:spPr>
        <a:solidFill>
          <a:srgbClr val="FDB414"/>
        </a:solidFill>
      </dgm:spPr>
      <dgm:t>
        <a:bodyPr/>
        <a:lstStyle/>
        <a:p>
          <a:r>
            <a:rPr lang="en-US" sz="2800" b="1" dirty="0">
              <a:solidFill>
                <a:schemeClr val="tx1"/>
              </a:solidFill>
            </a:rPr>
            <a:t>Help DDOT predict pavement condition into the future based on traffic trends, road designation, and pavement type.</a:t>
          </a:r>
          <a:endParaRPr lang="en-US" sz="5400" b="1" dirty="0">
            <a:solidFill>
              <a:schemeClr val="tx1"/>
            </a:solidFill>
          </a:endParaRPr>
        </a:p>
      </dgm:t>
    </dgm:pt>
    <dgm:pt modelId="{8440E269-C537-4EB8-9D53-76DBCD4FA198}" type="parTrans" cxnId="{FC516712-7238-4722-8FB4-6AA4B8980CF2}">
      <dgm:prSet/>
      <dgm:spPr/>
      <dgm:t>
        <a:bodyPr/>
        <a:lstStyle/>
        <a:p>
          <a:endParaRPr lang="en-US"/>
        </a:p>
      </dgm:t>
    </dgm:pt>
    <dgm:pt modelId="{9EECA35A-E329-42B0-BBE4-A3421937D9BB}" type="sibTrans" cxnId="{FC516712-7238-4722-8FB4-6AA4B8980CF2}">
      <dgm:prSet/>
      <dgm:spPr/>
      <dgm:t>
        <a:bodyPr/>
        <a:lstStyle/>
        <a:p>
          <a:endParaRPr lang="en-US"/>
        </a:p>
      </dgm:t>
    </dgm:pt>
    <dgm:pt modelId="{1C902E06-1409-48C5-A46D-B73B0CF55A81}">
      <dgm:prSet phldrT="[Text]" phldr="0" custT="1"/>
      <dgm:spPr/>
      <dgm:t>
        <a:bodyPr/>
        <a:lstStyle/>
        <a:p>
          <a:r>
            <a:rPr lang="en-US" sz="2000" dirty="0"/>
            <a:t>Allows for data-informed decisions on where to allocate funding for pavement improvements</a:t>
          </a:r>
        </a:p>
      </dgm:t>
    </dgm:pt>
    <dgm:pt modelId="{56534A05-DB23-4061-ABB8-0162B15385C6}" type="parTrans" cxnId="{9244C51B-690C-4167-BFCC-F690C07A3100}">
      <dgm:prSet/>
      <dgm:spPr/>
      <dgm:t>
        <a:bodyPr/>
        <a:lstStyle/>
        <a:p>
          <a:endParaRPr lang="en-US"/>
        </a:p>
      </dgm:t>
    </dgm:pt>
    <dgm:pt modelId="{7A71F98A-644D-46EA-B9AA-11EE6B732E32}" type="sibTrans" cxnId="{9244C51B-690C-4167-BFCC-F690C07A3100}">
      <dgm:prSet/>
      <dgm:spPr/>
      <dgm:t>
        <a:bodyPr/>
        <a:lstStyle/>
        <a:p>
          <a:endParaRPr lang="en-US"/>
        </a:p>
      </dgm:t>
    </dgm:pt>
    <dgm:pt modelId="{DCA7BFD6-9C08-4ABB-B3AC-989516B87262}">
      <dgm:prSet phldrT="[Text]" phldr="0" custT="1"/>
      <dgm:spPr/>
      <dgm:t>
        <a:bodyPr/>
        <a:lstStyle/>
        <a:p>
          <a:r>
            <a:rPr lang="en-US" sz="2000" dirty="0"/>
            <a:t>Provides insight on what pavements last longer under certain circumstances</a:t>
          </a:r>
        </a:p>
      </dgm:t>
    </dgm:pt>
    <dgm:pt modelId="{313150FC-BEB8-4597-A71A-9A00E8E3B0AC}" type="parTrans" cxnId="{0D917A26-9BCF-49A8-BCFE-CFDC894AFA20}">
      <dgm:prSet/>
      <dgm:spPr/>
      <dgm:t>
        <a:bodyPr/>
        <a:lstStyle/>
        <a:p>
          <a:endParaRPr lang="en-US"/>
        </a:p>
      </dgm:t>
    </dgm:pt>
    <dgm:pt modelId="{7E25A36E-A37B-4DA6-9A1A-1F3EDD739C2E}" type="sibTrans" cxnId="{0D917A26-9BCF-49A8-BCFE-CFDC894AFA20}">
      <dgm:prSet/>
      <dgm:spPr/>
      <dgm:t>
        <a:bodyPr/>
        <a:lstStyle/>
        <a:p>
          <a:endParaRPr lang="en-US"/>
        </a:p>
      </dgm:t>
    </dgm:pt>
    <dgm:pt modelId="{0E1B871B-2E98-40D3-BCCA-410C5CE0EFEE}">
      <dgm:prSet phldrT="[Text]" phldr="0" custT="1"/>
      <dgm:spPr/>
      <dgm:t>
        <a:bodyPr/>
        <a:lstStyle/>
        <a:p>
          <a:endParaRPr lang="en-US" sz="2000" dirty="0"/>
        </a:p>
      </dgm:t>
    </dgm:pt>
    <dgm:pt modelId="{640C8ABD-26CE-4808-9BCE-A3EAC7CCF522}" type="parTrans" cxnId="{A7D62979-068F-4747-9B7D-D0B9283285AE}">
      <dgm:prSet/>
      <dgm:spPr/>
      <dgm:t>
        <a:bodyPr/>
        <a:lstStyle/>
        <a:p>
          <a:endParaRPr lang="en-US"/>
        </a:p>
      </dgm:t>
    </dgm:pt>
    <dgm:pt modelId="{586688EB-5986-45DD-8C40-19E92122C0F1}" type="sibTrans" cxnId="{A7D62979-068F-4747-9B7D-D0B9283285AE}">
      <dgm:prSet/>
      <dgm:spPr/>
      <dgm:t>
        <a:bodyPr/>
        <a:lstStyle/>
        <a:p>
          <a:endParaRPr lang="en-US"/>
        </a:p>
      </dgm:t>
    </dgm:pt>
    <dgm:pt modelId="{652A53C0-3B62-4825-BBA3-48B331FE2B0C}" type="pres">
      <dgm:prSet presAssocID="{FDB18F72-5BB2-49ED-BA46-71F8D6D0AF70}" presName="linear" presStyleCnt="0">
        <dgm:presLayoutVars>
          <dgm:animLvl val="lvl"/>
          <dgm:resizeHandles val="exact"/>
        </dgm:presLayoutVars>
      </dgm:prSet>
      <dgm:spPr/>
    </dgm:pt>
    <dgm:pt modelId="{CDA1BD81-3A59-46FA-91FF-DE4D124C51E1}" type="pres">
      <dgm:prSet presAssocID="{ABA05952-0822-4927-AD7F-F16435C0E7D7}" presName="parentText" presStyleLbl="node1" presStyleIdx="0" presStyleCnt="1" custLinFactNeighborY="-60545">
        <dgm:presLayoutVars>
          <dgm:chMax val="0"/>
          <dgm:bulletEnabled val="1"/>
        </dgm:presLayoutVars>
      </dgm:prSet>
      <dgm:spPr/>
    </dgm:pt>
    <dgm:pt modelId="{D773EA50-2669-468C-8DF0-59F2656F3647}" type="pres">
      <dgm:prSet presAssocID="{ABA05952-0822-4927-AD7F-F16435C0E7D7}" presName="childText" presStyleLbl="revTx" presStyleIdx="0" presStyleCnt="1" custLinFactNeighborY="-16072">
        <dgm:presLayoutVars>
          <dgm:bulletEnabled val="1"/>
        </dgm:presLayoutVars>
      </dgm:prSet>
      <dgm:spPr/>
    </dgm:pt>
  </dgm:ptLst>
  <dgm:cxnLst>
    <dgm:cxn modelId="{FC516712-7238-4722-8FB4-6AA4B8980CF2}" srcId="{FDB18F72-5BB2-49ED-BA46-71F8D6D0AF70}" destId="{ABA05952-0822-4927-AD7F-F16435C0E7D7}" srcOrd="0" destOrd="0" parTransId="{8440E269-C537-4EB8-9D53-76DBCD4FA198}" sibTransId="{9EECA35A-E329-42B0-BBE4-A3421937D9BB}"/>
    <dgm:cxn modelId="{9244C51B-690C-4167-BFCC-F690C07A3100}" srcId="{ABA05952-0822-4927-AD7F-F16435C0E7D7}" destId="{1C902E06-1409-48C5-A46D-B73B0CF55A81}" srcOrd="0" destOrd="0" parTransId="{56534A05-DB23-4061-ABB8-0162B15385C6}" sibTransId="{7A71F98A-644D-46EA-B9AA-11EE6B732E32}"/>
    <dgm:cxn modelId="{0D917A26-9BCF-49A8-BCFE-CFDC894AFA20}" srcId="{ABA05952-0822-4927-AD7F-F16435C0E7D7}" destId="{DCA7BFD6-9C08-4ABB-B3AC-989516B87262}" srcOrd="2" destOrd="0" parTransId="{313150FC-BEB8-4597-A71A-9A00E8E3B0AC}" sibTransId="{7E25A36E-A37B-4DA6-9A1A-1F3EDD739C2E}"/>
    <dgm:cxn modelId="{6C3F8B2F-A8B8-4951-80CF-A8E8B960087A}" type="presOf" srcId="{1C902E06-1409-48C5-A46D-B73B0CF55A81}" destId="{D773EA50-2669-468C-8DF0-59F2656F3647}" srcOrd="0" destOrd="0" presId="urn:microsoft.com/office/officeart/2005/8/layout/vList2"/>
    <dgm:cxn modelId="{F7AFC739-F905-4A78-8F52-DE7CCD41974F}" type="presOf" srcId="{ABA05952-0822-4927-AD7F-F16435C0E7D7}" destId="{CDA1BD81-3A59-46FA-91FF-DE4D124C51E1}" srcOrd="0" destOrd="0" presId="urn:microsoft.com/office/officeart/2005/8/layout/vList2"/>
    <dgm:cxn modelId="{FC3C2674-87BF-4FEB-890F-A47E06928370}" type="presOf" srcId="{DCA7BFD6-9C08-4ABB-B3AC-989516B87262}" destId="{D773EA50-2669-468C-8DF0-59F2656F3647}" srcOrd="0" destOrd="2" presId="urn:microsoft.com/office/officeart/2005/8/layout/vList2"/>
    <dgm:cxn modelId="{A7D62979-068F-4747-9B7D-D0B9283285AE}" srcId="{ABA05952-0822-4927-AD7F-F16435C0E7D7}" destId="{0E1B871B-2E98-40D3-BCCA-410C5CE0EFEE}" srcOrd="1" destOrd="0" parTransId="{640C8ABD-26CE-4808-9BCE-A3EAC7CCF522}" sibTransId="{586688EB-5986-45DD-8C40-19E92122C0F1}"/>
    <dgm:cxn modelId="{11ECE1D9-8924-40AA-A9BF-A44D86D9D7EF}" type="presOf" srcId="{FDB18F72-5BB2-49ED-BA46-71F8D6D0AF70}" destId="{652A53C0-3B62-4825-BBA3-48B331FE2B0C}" srcOrd="0" destOrd="0" presId="urn:microsoft.com/office/officeart/2005/8/layout/vList2"/>
    <dgm:cxn modelId="{A4DA30FB-87DC-4CAA-98F2-406D41822A93}" type="presOf" srcId="{0E1B871B-2E98-40D3-BCCA-410C5CE0EFEE}" destId="{D773EA50-2669-468C-8DF0-59F2656F3647}" srcOrd="0" destOrd="1" presId="urn:microsoft.com/office/officeart/2005/8/layout/vList2"/>
    <dgm:cxn modelId="{AC43422F-AB47-4F7B-900D-9BFAAC7829D5}" type="presParOf" srcId="{652A53C0-3B62-4825-BBA3-48B331FE2B0C}" destId="{CDA1BD81-3A59-46FA-91FF-DE4D124C51E1}" srcOrd="0" destOrd="0" presId="urn:microsoft.com/office/officeart/2005/8/layout/vList2"/>
    <dgm:cxn modelId="{9EFB0910-A3EA-4CEA-BC45-572B03B05AD5}" type="presParOf" srcId="{652A53C0-3B62-4825-BBA3-48B331FE2B0C}" destId="{D773EA50-2669-468C-8DF0-59F2656F364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1BD81-3A59-46FA-91FF-DE4D124C51E1}">
      <dsp:nvSpPr>
        <dsp:cNvPr id="0" name=""/>
        <dsp:cNvSpPr/>
      </dsp:nvSpPr>
      <dsp:spPr>
        <a:xfrm>
          <a:off x="0" y="0"/>
          <a:ext cx="8229600" cy="1559025"/>
        </a:xfrm>
        <a:prstGeom prst="roundRect">
          <a:avLst/>
        </a:prstGeom>
        <a:solidFill>
          <a:srgbClr val="FDB41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</a:rPr>
            <a:t>Help DDOT predict pavement condition into the future based on traffic trends, road designation, and pavement type.</a:t>
          </a:r>
          <a:endParaRPr lang="en-US" sz="5400" b="1" kern="1200" dirty="0">
            <a:solidFill>
              <a:schemeClr val="tx1"/>
            </a:solidFill>
          </a:endParaRPr>
        </a:p>
      </dsp:txBody>
      <dsp:txXfrm>
        <a:off x="76105" y="76105"/>
        <a:ext cx="8077390" cy="1406815"/>
      </dsp:txXfrm>
    </dsp:sp>
    <dsp:sp modelId="{D773EA50-2669-468C-8DF0-59F2656F3647}">
      <dsp:nvSpPr>
        <dsp:cNvPr id="0" name=""/>
        <dsp:cNvSpPr/>
      </dsp:nvSpPr>
      <dsp:spPr>
        <a:xfrm>
          <a:off x="0" y="1836346"/>
          <a:ext cx="8229600" cy="158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Allows for data-informed decisions on where to allocate funding for pavement improvements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Provides insight on what pavements last longer under certain circumstances</a:t>
          </a:r>
        </a:p>
      </dsp:txBody>
      <dsp:txXfrm>
        <a:off x="0" y="1836346"/>
        <a:ext cx="8229600" cy="15809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96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3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5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9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3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6117"/>
            <a:ext cx="3008313" cy="10816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86118"/>
            <a:ext cx="5111750" cy="54479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8168"/>
            <a:ext cx="3008313" cy="4366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0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9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40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3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29704"/>
            <a:ext cx="8229600" cy="4196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BD96B-75CA-1841-90D5-B18FC898F67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2563" y="6356350"/>
            <a:ext cx="10948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MD-flag-background-ppt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71500"/>
          </a:xfrm>
          <a:prstGeom prst="rect">
            <a:avLst/>
          </a:prstGeom>
        </p:spPr>
      </p:pic>
      <p:pic>
        <p:nvPicPr>
          <p:cNvPr id="8" name="Picture 7" descr="UMBC-primary-logo-CMYK-on-black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87" y="86177"/>
            <a:ext cx="1749252" cy="402989"/>
          </a:xfrm>
          <a:prstGeom prst="rect">
            <a:avLst/>
          </a:prstGeom>
        </p:spPr>
      </p:pic>
      <p:pic>
        <p:nvPicPr>
          <p:cNvPr id="9" name="Picture 8" descr="corner-element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18" y="5615558"/>
            <a:ext cx="1224081" cy="12424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935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Forecasting DC Pavement Condition Using HPMS Data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Connor Bruce</a:t>
            </a:r>
          </a:p>
          <a:p>
            <a:r>
              <a:rPr lang="en-US" dirty="0"/>
              <a:t>DATA 606</a:t>
            </a:r>
          </a:p>
        </p:txBody>
      </p:sp>
    </p:spTree>
    <p:extLst>
      <p:ext uri="{BB962C8B-B14F-4D97-AF65-F5344CB8AC3E}">
        <p14:creationId xmlns:p14="http://schemas.microsoft.com/office/powerpoint/2010/main" val="3026918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3169-C3A3-D0FD-BE7C-B2D492FD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Purpose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E4C3FE7-05BE-D0C3-AE7B-953F51A3F9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592702"/>
              </p:ext>
            </p:extLst>
          </p:nvPr>
        </p:nvGraphicFramePr>
        <p:xfrm>
          <a:off x="457200" y="1930400"/>
          <a:ext cx="8229600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D6A72E7-05AE-A4D4-1D78-151F90B0F833}"/>
              </a:ext>
            </a:extLst>
          </p:cNvPr>
          <p:cNvSpPr txBox="1"/>
          <p:nvPr/>
        </p:nvSpPr>
        <p:spPr>
          <a:xfrm>
            <a:off x="626532" y="6265333"/>
            <a:ext cx="557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DDOT: District Department of Transportation</a:t>
            </a:r>
          </a:p>
        </p:txBody>
      </p:sp>
    </p:spTree>
    <p:extLst>
      <p:ext uri="{BB962C8B-B14F-4D97-AF65-F5344CB8AC3E}">
        <p14:creationId xmlns:p14="http://schemas.microsoft.com/office/powerpoint/2010/main" val="1060024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8D50-A5A9-D38E-A2F6-D98238AE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to Answer</a:t>
            </a:r>
          </a:p>
        </p:txBody>
      </p:sp>
      <p:graphicFrame>
        <p:nvGraphicFramePr>
          <p:cNvPr id="60" name="Content Placeholder 59">
            <a:extLst>
              <a:ext uri="{FF2B5EF4-FFF2-40B4-BE49-F238E27FC236}">
                <a16:creationId xmlns:a16="http://schemas.microsoft.com/office/drawing/2014/main" id="{BB3A522C-1ACE-9599-7526-84429F89EC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657017"/>
              </p:ext>
            </p:extLst>
          </p:nvPr>
        </p:nvGraphicFramePr>
        <p:xfrm>
          <a:off x="457200" y="1930400"/>
          <a:ext cx="8229600" cy="4097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633124205"/>
                    </a:ext>
                  </a:extLst>
                </a:gridCol>
                <a:gridCol w="6908800">
                  <a:extLst>
                    <a:ext uri="{9D8B030D-6E8A-4147-A177-3AD203B41FA5}">
                      <a16:colId xmlns:a16="http://schemas.microsoft.com/office/drawing/2014/main" val="2124638770"/>
                    </a:ext>
                  </a:extLst>
                </a:gridCol>
              </a:tblGrid>
              <a:tr h="136313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What is the effect of traffic on pavement condition over time?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2910913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What will DC’s pavement network look like in the future?</a:t>
                      </a:r>
                    </a:p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528265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Is HPMS data adequate for developing pavement models or is additional data needed?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9626521"/>
                  </a:ext>
                </a:extLst>
              </a:tr>
            </a:tbl>
          </a:graphicData>
        </a:graphic>
      </p:graphicFrame>
      <p:pic>
        <p:nvPicPr>
          <p:cNvPr id="62" name="Graphic 61" descr="Car with solid fill">
            <a:extLst>
              <a:ext uri="{FF2B5EF4-FFF2-40B4-BE49-F238E27FC236}">
                <a16:creationId xmlns:a16="http://schemas.microsoft.com/office/drawing/2014/main" id="{38B3A1BF-0878-C7F9-24A7-B966E37F21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867" y="2159000"/>
            <a:ext cx="914400" cy="914400"/>
          </a:xfrm>
          <a:prstGeom prst="rect">
            <a:avLst/>
          </a:prstGeom>
        </p:spPr>
      </p:pic>
      <p:pic>
        <p:nvPicPr>
          <p:cNvPr id="64" name="Graphic 63" descr="Fork In Road with solid fill">
            <a:extLst>
              <a:ext uri="{FF2B5EF4-FFF2-40B4-BE49-F238E27FC236}">
                <a16:creationId xmlns:a16="http://schemas.microsoft.com/office/drawing/2014/main" id="{FF7A5E96-DCC9-D70A-A725-D63C1F957A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934" y="3429000"/>
            <a:ext cx="914400" cy="914400"/>
          </a:xfrm>
          <a:prstGeom prst="rect">
            <a:avLst/>
          </a:prstGeom>
        </p:spPr>
      </p:pic>
      <p:pic>
        <p:nvPicPr>
          <p:cNvPr id="68" name="Graphic 67" descr="Database with solid fill">
            <a:extLst>
              <a:ext uri="{FF2B5EF4-FFF2-40B4-BE49-F238E27FC236}">
                <a16:creationId xmlns:a16="http://schemas.microsoft.com/office/drawing/2014/main" id="{3D37DAFB-3BEC-A1AF-8FC8-B72BC7A9A6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867" y="4825999"/>
            <a:ext cx="914400" cy="9144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C8468002-D220-D277-A958-372FA4CF8F83}"/>
              </a:ext>
            </a:extLst>
          </p:cNvPr>
          <p:cNvSpPr txBox="1"/>
          <p:nvPr/>
        </p:nvSpPr>
        <p:spPr>
          <a:xfrm>
            <a:off x="626532" y="6265333"/>
            <a:ext cx="557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HPMS: Highway Performance Monitoring System</a:t>
            </a:r>
          </a:p>
        </p:txBody>
      </p:sp>
    </p:spTree>
    <p:extLst>
      <p:ext uri="{BB962C8B-B14F-4D97-AF65-F5344CB8AC3E}">
        <p14:creationId xmlns:p14="http://schemas.microsoft.com/office/powerpoint/2010/main" val="279009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387A-E06C-0701-4CB8-8DB91A49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4413316-FA64-211D-7540-8CF90C9AF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5808"/>
            <a:ext cx="8229600" cy="419645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Highway Performance Monitoring System (HPMS) DDOT Submittals 2015-2024</a:t>
            </a:r>
          </a:p>
          <a:p>
            <a:r>
              <a:rPr lang="en-US" sz="2800" dirty="0"/>
              <a:t>284.8 MB Geodatabase File</a:t>
            </a:r>
          </a:p>
          <a:p>
            <a:r>
              <a:rPr lang="en-US" sz="2800" dirty="0"/>
              <a:t>1,727,332 Rows x 40 Columns</a:t>
            </a:r>
          </a:p>
          <a:p>
            <a:r>
              <a:rPr lang="en-US" sz="2800" dirty="0"/>
              <a:t>Each record contains road designation, condition, and traffic information of a given section for a given year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00A556-4F23-9BF5-1F56-3E61C1773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557330"/>
            <a:ext cx="3883489" cy="7498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B9D15A-686D-F233-35F6-4F40AA383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99" y="5145694"/>
            <a:ext cx="3166533" cy="117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5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2C21-10DB-0CA4-C7BF-1513C74F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Dictionary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1E7366B-1390-BB1A-BC40-893556EB4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948439"/>
              </p:ext>
            </p:extLst>
          </p:nvPr>
        </p:nvGraphicFramePr>
        <p:xfrm>
          <a:off x="702733" y="1591733"/>
          <a:ext cx="7509936" cy="49167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77484">
                  <a:extLst>
                    <a:ext uri="{9D8B030D-6E8A-4147-A177-3AD203B41FA5}">
                      <a16:colId xmlns:a16="http://schemas.microsoft.com/office/drawing/2014/main" val="3723336577"/>
                    </a:ext>
                  </a:extLst>
                </a:gridCol>
                <a:gridCol w="1877484">
                  <a:extLst>
                    <a:ext uri="{9D8B030D-6E8A-4147-A177-3AD203B41FA5}">
                      <a16:colId xmlns:a16="http://schemas.microsoft.com/office/drawing/2014/main" val="1701126557"/>
                    </a:ext>
                  </a:extLst>
                </a:gridCol>
                <a:gridCol w="1877484">
                  <a:extLst>
                    <a:ext uri="{9D8B030D-6E8A-4147-A177-3AD203B41FA5}">
                      <a16:colId xmlns:a16="http://schemas.microsoft.com/office/drawing/2014/main" val="1508968389"/>
                    </a:ext>
                  </a:extLst>
                </a:gridCol>
                <a:gridCol w="1877484">
                  <a:extLst>
                    <a:ext uri="{9D8B030D-6E8A-4147-A177-3AD203B41FA5}">
                      <a16:colId xmlns:a16="http://schemas.microsoft.com/office/drawing/2014/main" val="3205648882"/>
                    </a:ext>
                  </a:extLst>
                </a:gridCol>
              </a:tblGrid>
              <a:tr h="223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Column Name</a:t>
                      </a:r>
                      <a:endParaRPr lang="en-US" sz="1050" b="1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>
                    <a:solidFill>
                      <a:srgbClr val="FDB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Data Type</a:t>
                      </a:r>
                      <a:endParaRPr lang="en-US" sz="1050" b="1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>
                    <a:solidFill>
                      <a:srgbClr val="FDB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Definition</a:t>
                      </a:r>
                      <a:endParaRPr lang="en-US" sz="1050" b="1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>
                    <a:solidFill>
                      <a:srgbClr val="FDB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Potential Values</a:t>
                      </a:r>
                      <a:endParaRPr lang="en-US" sz="1050" b="1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>
                    <a:solidFill>
                      <a:srgbClr val="FDB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226827"/>
                  </a:ext>
                </a:extLst>
              </a:tr>
              <a:tr h="223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ROUTE_ID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Character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Route Designation Identifier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Any alphanumeric combination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1272247754"/>
                  </a:ext>
                </a:extLst>
              </a:tr>
              <a:tr h="3759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BEGIN_POINT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Numeric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Mile marker of starting point for section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Any real number &gt;= 0 and less than END_POINT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2361723828"/>
                  </a:ext>
                </a:extLst>
              </a:tr>
              <a:tr h="3759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END_POINT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Numeric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Mile marker of ending point for section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Any real number &gt; 0 and greater than BEGIN_POINT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2846291697"/>
                  </a:ext>
                </a:extLst>
              </a:tr>
              <a:tr h="3759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YEAR_RECORD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Integer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Year of given observation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Integer between 2015 and 2024, inclusive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3664687461"/>
                  </a:ext>
                </a:extLst>
              </a:tr>
              <a:tr h="6817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AADT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Integer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Average Annual Daily Traffic. Average number of cars that drove on given section of road per day for given year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Integer &gt;= 0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3414454798"/>
                  </a:ext>
                </a:extLst>
              </a:tr>
              <a:tr h="528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IRI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Integer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Internation Roughness Index (IRI) value for given section. In units of in/mi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Integer &gt;= 0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3143884349"/>
                  </a:ext>
                </a:extLst>
              </a:tr>
              <a:tr h="528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F_SYSTEM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Integer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Code for functional system of given section. (e.g. Interstate, Major Arterial, Minor Arterial)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Integer between 0 and 7, inclusive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3868881010"/>
                  </a:ext>
                </a:extLst>
              </a:tr>
              <a:tr h="528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NHS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Integer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Indicates whether the road is part of the National Highway System (NHS)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Integer between 0 and 7, inclusive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1848677602"/>
                  </a:ext>
                </a:extLst>
              </a:tr>
              <a:tr h="3759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SURFACE_TYPE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Integer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Code for material of given section's pavement surface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Integer between 0 and 11, inclusive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4223562423"/>
                  </a:ext>
                </a:extLst>
              </a:tr>
              <a:tr h="3759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IRI_DELTA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Integer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Year-over-year change in IRI, in in/mi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Integer &gt;= 0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3668734610"/>
                  </a:ext>
                </a:extLst>
              </a:tr>
              <a:tr h="223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AADT_DELTA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effectLst/>
                        </a:rPr>
                        <a:t>Integer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Year-over-year change in AADT</a:t>
                      </a:r>
                      <a:endParaRPr lang="en-US" sz="105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Integer &gt;= 0</a:t>
                      </a:r>
                      <a:endParaRPr lang="en-US" sz="105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62999" marR="62999" marT="31500" marB="31500" anchor="ctr"/>
                </a:tc>
                <a:extLst>
                  <a:ext uri="{0D108BD9-81ED-4DB2-BD59-A6C34878D82A}">
                    <a16:rowId xmlns:a16="http://schemas.microsoft.com/office/drawing/2014/main" val="101848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4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9349-D4D1-7B5B-1732-76FD722A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818B9456-050B-028A-0662-D01CB492D3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3808198"/>
              </p:ext>
            </p:extLst>
          </p:nvPr>
        </p:nvGraphicFramePr>
        <p:xfrm>
          <a:off x="457200" y="1930399"/>
          <a:ext cx="8229600" cy="3331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0004696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32526959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75576534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17588594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8001355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03365893"/>
                    </a:ext>
                  </a:extLst>
                </a:gridCol>
              </a:tblGrid>
              <a:tr h="923809">
                <a:tc gridSpan="6">
                  <a:txBody>
                    <a:bodyPr/>
                    <a:lstStyle/>
                    <a:p>
                      <a:pPr algn="ctr"/>
                      <a:r>
                        <a:rPr lang="en-US" sz="5400" dirty="0">
                          <a:solidFill>
                            <a:schemeClr val="tx1"/>
                          </a:solidFill>
                        </a:rPr>
                        <a:t>Target: </a:t>
                      </a:r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IRI Delta</a:t>
                      </a:r>
                      <a:endParaRPr lang="en-US" sz="5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DB4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B4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B4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B4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B4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B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3856"/>
                  </a:ext>
                </a:extLst>
              </a:tr>
              <a:tr h="2258822"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AADT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u="none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u="none" dirty="0"/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u="none" dirty="0"/>
                        <a:t>Pavement deteriorates differently under varying traffic loads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AADT Delta</a:t>
                      </a:r>
                    </a:p>
                    <a:p>
                      <a:pPr algn="ctr"/>
                      <a:endParaRPr lang="en-US" u="sng" dirty="0"/>
                    </a:p>
                    <a:p>
                      <a:pPr algn="ctr"/>
                      <a:endParaRPr lang="en-US" u="sng" dirty="0"/>
                    </a:p>
                    <a:p>
                      <a:pPr algn="ctr"/>
                      <a:r>
                        <a:rPr lang="en-US" sz="1400" u="none" dirty="0"/>
                        <a:t>Year-over-year changes in traffic can impact pavement condition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Functional</a:t>
                      </a:r>
                    </a:p>
                    <a:p>
                      <a:pPr algn="ctr"/>
                      <a:r>
                        <a:rPr lang="en-US" u="sng" dirty="0"/>
                        <a:t>System</a:t>
                      </a:r>
                    </a:p>
                    <a:p>
                      <a:pPr algn="ctr"/>
                      <a:endParaRPr lang="en-US" u="sng" dirty="0"/>
                    </a:p>
                    <a:p>
                      <a:pPr algn="ctr"/>
                      <a:r>
                        <a:rPr lang="en-US" sz="1400" u="none" dirty="0"/>
                        <a:t>Different road classes have different types of traffic (e.g. truck vs car) and are given varying funding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NHS Designation</a:t>
                      </a:r>
                    </a:p>
                    <a:p>
                      <a:pPr algn="ctr"/>
                      <a:endParaRPr lang="en-US" u="sng" dirty="0"/>
                    </a:p>
                    <a:p>
                      <a:pPr algn="ctr"/>
                      <a:r>
                        <a:rPr lang="en-US" sz="1400" u="none" dirty="0"/>
                        <a:t>Highways have different types of traffic and receive special funding for preservation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Surface Type</a:t>
                      </a:r>
                    </a:p>
                    <a:p>
                      <a:pPr algn="ctr"/>
                      <a:endParaRPr lang="en-US" u="sng" dirty="0"/>
                    </a:p>
                    <a:p>
                      <a:pPr algn="ctr"/>
                      <a:endParaRPr lang="en-US" u="sng" dirty="0"/>
                    </a:p>
                    <a:p>
                      <a:pPr algn="ctr"/>
                      <a:r>
                        <a:rPr lang="en-US" sz="1400" u="none" dirty="0"/>
                        <a:t>Type of pavement (e.g. Asphalt vs. Concrete) behave differently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IRI</a:t>
                      </a:r>
                    </a:p>
                    <a:p>
                      <a:pPr algn="ctr"/>
                      <a:endParaRPr lang="en-US" u="sng" dirty="0"/>
                    </a:p>
                    <a:p>
                      <a:pPr algn="ctr"/>
                      <a:endParaRPr lang="en-US" u="sng" dirty="0"/>
                    </a:p>
                    <a:p>
                      <a:pPr algn="ctr"/>
                      <a:r>
                        <a:rPr lang="en-US" sz="1400" u="none" dirty="0"/>
                        <a:t>Current pavement condition can affect further changes in pavement condition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577747"/>
                  </a:ext>
                </a:extLst>
              </a:tr>
            </a:tbl>
          </a:graphicData>
        </a:graphic>
      </p:graphicFrame>
      <p:pic>
        <p:nvPicPr>
          <p:cNvPr id="23" name="Graphic 22" descr="Bullseye with solid fill">
            <a:extLst>
              <a:ext uri="{FF2B5EF4-FFF2-40B4-BE49-F238E27FC236}">
                <a16:creationId xmlns:a16="http://schemas.microsoft.com/office/drawing/2014/main" id="{848EAB3E-F6E4-0C74-819C-1F3FE2020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1930399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D7CF69B-42B5-4B4E-0DAE-1EC8A39AE571}"/>
              </a:ext>
            </a:extLst>
          </p:cNvPr>
          <p:cNvSpPr txBox="1"/>
          <p:nvPr/>
        </p:nvSpPr>
        <p:spPr>
          <a:xfrm>
            <a:off x="626532" y="6265333"/>
            <a:ext cx="557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IRI: International Roughness Index</a:t>
            </a:r>
          </a:p>
        </p:txBody>
      </p:sp>
    </p:spTree>
    <p:extLst>
      <p:ext uri="{BB962C8B-B14F-4D97-AF65-F5344CB8AC3E}">
        <p14:creationId xmlns:p14="http://schemas.microsoft.com/office/powerpoint/2010/main" val="285544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850DD-2672-1C07-A463-9BEBC9F2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Preliminary Data – </a:t>
            </a:r>
            <a:br>
              <a:rPr lang="en-US" dirty="0"/>
            </a:br>
            <a:r>
              <a:rPr lang="en-US" dirty="0"/>
              <a:t>Missing IRI Delta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0F23E9-113C-68C4-0436-4694E24F65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544205"/>
              </p:ext>
            </p:extLst>
          </p:nvPr>
        </p:nvGraphicFramePr>
        <p:xfrm>
          <a:off x="365252" y="2104019"/>
          <a:ext cx="6204884" cy="40470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51221">
                  <a:extLst>
                    <a:ext uri="{9D8B030D-6E8A-4147-A177-3AD203B41FA5}">
                      <a16:colId xmlns:a16="http://schemas.microsoft.com/office/drawing/2014/main" val="407495538"/>
                    </a:ext>
                  </a:extLst>
                </a:gridCol>
                <a:gridCol w="1551221">
                  <a:extLst>
                    <a:ext uri="{9D8B030D-6E8A-4147-A177-3AD203B41FA5}">
                      <a16:colId xmlns:a16="http://schemas.microsoft.com/office/drawing/2014/main" val="2841247914"/>
                    </a:ext>
                  </a:extLst>
                </a:gridCol>
                <a:gridCol w="1551221">
                  <a:extLst>
                    <a:ext uri="{9D8B030D-6E8A-4147-A177-3AD203B41FA5}">
                      <a16:colId xmlns:a16="http://schemas.microsoft.com/office/drawing/2014/main" val="759946335"/>
                    </a:ext>
                  </a:extLst>
                </a:gridCol>
                <a:gridCol w="1551221">
                  <a:extLst>
                    <a:ext uri="{9D8B030D-6E8A-4147-A177-3AD203B41FA5}">
                      <a16:colId xmlns:a16="http://schemas.microsoft.com/office/drawing/2014/main" val="2146467947"/>
                    </a:ext>
                  </a:extLst>
                </a:gridCol>
              </a:tblGrid>
              <a:tr h="6011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Year</a:t>
                      </a:r>
                    </a:p>
                  </a:txBody>
                  <a:tcPr marL="45720" marR="45720" marB="22860" anchor="ctr">
                    <a:solidFill>
                      <a:srgbClr val="FDB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b="1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Number Missing Values</a:t>
                      </a:r>
                    </a:p>
                    <a:p>
                      <a:pPr algn="ctr">
                        <a:buNone/>
                      </a:pPr>
                      <a:endParaRPr lang="en-US" sz="1100" b="1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B="22860" anchor="ctr">
                    <a:solidFill>
                      <a:srgbClr val="FDB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Number Non-Missing Values</a:t>
                      </a:r>
                    </a:p>
                  </a:txBody>
                  <a:tcPr marL="45720" marR="45720" marB="22860" anchor="ctr">
                    <a:solidFill>
                      <a:srgbClr val="FDB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Percentage Missing</a:t>
                      </a:r>
                    </a:p>
                  </a:txBody>
                  <a:tcPr marL="45720" marR="45720" marB="22860" anchor="ctr">
                    <a:solidFill>
                      <a:srgbClr val="FDB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184079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2015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105244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627132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2016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2393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104976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0.022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63048346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2017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34196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46877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0.422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604534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2018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6731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88831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0.070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489150045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2019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3760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144374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0.025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20527826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2020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1343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148440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0.009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879625836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2021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4041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145221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0.027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4124617336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2022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52379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156463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0.251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835522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2023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3424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208835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0.016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4033290131"/>
                  </a:ext>
                </a:extLst>
              </a:tr>
              <a:tr h="317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2024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9347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213511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0.042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Lucida Sans" panose="020B0602030504020204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102932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769E4E-EA7F-E161-C3F0-20F7FF117997}"/>
              </a:ext>
            </a:extLst>
          </p:cNvPr>
          <p:cNvSpPr txBox="1"/>
          <p:nvPr/>
        </p:nvSpPr>
        <p:spPr>
          <a:xfrm>
            <a:off x="6976532" y="2895600"/>
            <a:ext cx="1964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Doesn’t have prior year’s data to compute delta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D4E0E0-D88A-2796-187C-9FF9964B5294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714067" y="3126433"/>
            <a:ext cx="2624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61F300-7C17-637F-682A-5724833FF2BD}"/>
              </a:ext>
            </a:extLst>
          </p:cNvPr>
          <p:cNvCxnSpPr/>
          <p:nvPr/>
        </p:nvCxnSpPr>
        <p:spPr>
          <a:xfrm flipH="1" flipV="1">
            <a:off x="6714067" y="3843867"/>
            <a:ext cx="618066" cy="694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098847-1491-2C17-A510-25B17D601FEE}"/>
              </a:ext>
            </a:extLst>
          </p:cNvPr>
          <p:cNvCxnSpPr/>
          <p:nvPr/>
        </p:nvCxnSpPr>
        <p:spPr>
          <a:xfrm flipH="1">
            <a:off x="6714067" y="4817533"/>
            <a:ext cx="618066" cy="550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64C0C6-1DD7-0E1F-EDEE-FB744733C077}"/>
              </a:ext>
            </a:extLst>
          </p:cNvPr>
          <p:cNvSpPr txBox="1"/>
          <p:nvPr/>
        </p:nvSpPr>
        <p:spPr>
          <a:xfrm>
            <a:off x="7399867" y="4538133"/>
            <a:ext cx="1540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High, but acceptable</a:t>
            </a:r>
          </a:p>
        </p:txBody>
      </p:sp>
    </p:spTree>
    <p:extLst>
      <p:ext uri="{BB962C8B-B14F-4D97-AF65-F5344CB8AC3E}">
        <p14:creationId xmlns:p14="http://schemas.microsoft.com/office/powerpoint/2010/main" val="319764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9BC6-C5C5-F7BF-A989-957F2D4A3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Preliminary EDA:</a:t>
            </a:r>
            <a:br>
              <a:rPr lang="en-US" dirty="0"/>
            </a:br>
            <a:r>
              <a:rPr lang="en-US" dirty="0"/>
              <a:t>IRI Delta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EA40F8-27C7-65F8-3136-FAAF4BF0C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122" y="2311400"/>
            <a:ext cx="5414411" cy="3341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723AEB-0FDF-5BE0-5991-997416E97831}"/>
              </a:ext>
            </a:extLst>
          </p:cNvPr>
          <p:cNvSpPr txBox="1"/>
          <p:nvPr/>
        </p:nvSpPr>
        <p:spPr>
          <a:xfrm>
            <a:off x="6070600" y="3081705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 decrease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Spikes in 2016, 2017, and 2019 may be due to outliers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52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0E75D-29E3-317C-E746-05F527CD1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5023-57EA-F079-9424-7D53111F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Preliminary EDA:</a:t>
            </a:r>
            <a:br>
              <a:rPr lang="en-US" dirty="0"/>
            </a:br>
            <a:r>
              <a:rPr lang="en-US" dirty="0"/>
              <a:t>IRI Delta Distribution (No Outliers)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D690E0-CE50-ADF3-6FFB-AEABA6817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65122" y="2311400"/>
            <a:ext cx="5414411" cy="3341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D2C029-4016-56B6-B1FE-2C76AC17322C}"/>
              </a:ext>
            </a:extLst>
          </p:cNvPr>
          <p:cNvSpPr txBox="1"/>
          <p:nvPr/>
        </p:nvSpPr>
        <p:spPr>
          <a:xfrm>
            <a:off x="6070600" y="2597623"/>
            <a:ext cx="2743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changes over 100 in/mi per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2017 still heavy outlier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Trend in middle years flips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Still lower in recent years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191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7662-66AB-2E46-CEC3-AEEAD11D1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095A-4C13-8FF1-4B13-3C06A4B96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Preliminary EDA:</a:t>
            </a:r>
            <a:br>
              <a:rPr lang="en-US" dirty="0"/>
            </a:br>
            <a:r>
              <a:rPr lang="en-US" dirty="0"/>
              <a:t>Traffic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5F25E7-D92D-4E48-1010-12DD44087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65122" y="2311400"/>
            <a:ext cx="5414411" cy="3341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5E5FAE-9512-54DF-6857-05F598050B36}"/>
              </a:ext>
            </a:extLst>
          </p:cNvPr>
          <p:cNvSpPr txBox="1"/>
          <p:nvPr/>
        </p:nvSpPr>
        <p:spPr>
          <a:xfrm>
            <a:off x="6070600" y="2597623"/>
            <a:ext cx="2743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Traffic spikes in 2017 and 2018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Sharp decrease then remains consistent after 2019 – could be COVID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2015 lower than other years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552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89D7-B67C-0375-E64F-FFD590B6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Planned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E6F40-0466-9F1A-FB2E-ABB4170E6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Exploring 2017 outliers</a:t>
            </a:r>
          </a:p>
          <a:p>
            <a:endParaRPr lang="en-US" dirty="0"/>
          </a:p>
          <a:p>
            <a:r>
              <a:rPr lang="en-US" dirty="0"/>
              <a:t>Correlation analysis for features</a:t>
            </a:r>
          </a:p>
          <a:p>
            <a:endParaRPr lang="en-US" dirty="0"/>
          </a:p>
          <a:p>
            <a:r>
              <a:rPr lang="en-US" dirty="0"/>
              <a:t>Distribution for categorical features (Functional Class, Surface Type, NHS)</a:t>
            </a:r>
          </a:p>
          <a:p>
            <a:endParaRPr lang="en-US" dirty="0"/>
          </a:p>
          <a:p>
            <a:r>
              <a:rPr lang="en-US" dirty="0"/>
              <a:t>Exploring general linear trends</a:t>
            </a:r>
          </a:p>
        </p:txBody>
      </p:sp>
    </p:spTree>
    <p:extLst>
      <p:ext uri="{BB962C8B-B14F-4D97-AF65-F5344CB8AC3E}">
        <p14:creationId xmlns:p14="http://schemas.microsoft.com/office/powerpoint/2010/main" val="201109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AA73-FAB0-E19C-AD84-7F9F5C45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5" name="Content Placeholder 4" descr="Magnifying glass and question mark">
            <a:extLst>
              <a:ext uri="{FF2B5EF4-FFF2-40B4-BE49-F238E27FC236}">
                <a16:creationId xmlns:a16="http://schemas.microsoft.com/office/drawing/2014/main" id="{BF8CF869-B05F-0904-40C7-627DF6E40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257" y="1930400"/>
            <a:ext cx="7459485" cy="4195763"/>
          </a:xfrm>
        </p:spPr>
      </p:pic>
    </p:spTree>
    <p:extLst>
      <p:ext uri="{BB962C8B-B14F-4D97-AF65-F5344CB8AC3E}">
        <p14:creationId xmlns:p14="http://schemas.microsoft.com/office/powerpoint/2010/main" val="998235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653</Words>
  <Application>Microsoft Office PowerPoint</Application>
  <PresentationFormat>On-screen Show (4:3)</PresentationFormat>
  <Paragraphs>168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Lucida Sans</vt:lpstr>
      <vt:lpstr>Office Theme</vt:lpstr>
      <vt:lpstr>Forecasting DC Pavement Condition Using HPMS Data </vt:lpstr>
      <vt:lpstr>Project Purpose</vt:lpstr>
      <vt:lpstr>Questions to Answer</vt:lpstr>
      <vt:lpstr>Data Source</vt:lpstr>
      <vt:lpstr>Data Dictionary</vt:lpstr>
      <vt:lpstr>Model </vt:lpstr>
      <vt:lpstr>Preliminary Data –  Missing IRI Delta Data</vt:lpstr>
      <vt:lpstr>Preliminary EDA: IRI Delta Distribution</vt:lpstr>
      <vt:lpstr>Preliminary EDA: IRI Delta Distribution (No Outliers)</vt:lpstr>
      <vt:lpstr>Preliminary EDA: Traffic Distribution</vt:lpstr>
      <vt:lpstr>Planned EDA</vt:lpstr>
      <vt:lpstr>Questions?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Lord</dc:creator>
  <cp:lastModifiedBy>Connor Bruce</cp:lastModifiedBy>
  <cp:revision>4</cp:revision>
  <dcterms:created xsi:type="dcterms:W3CDTF">2019-12-12T13:31:42Z</dcterms:created>
  <dcterms:modified xsi:type="dcterms:W3CDTF">2026-09-10T02:12:14Z</dcterms:modified>
</cp:coreProperties>
</file>